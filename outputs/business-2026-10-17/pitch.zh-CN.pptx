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ce9368fd0e4124" /><Relationship Type="http://schemas.openxmlformats.org/officeDocument/2006/relationships/extended-properties" Target="/docProps/app.xml" Id="R2abf58d464fe4976" /><Relationship Type="http://schemas.openxmlformats.org/officeDocument/2006/relationships/officeDocument" Target="/ppt/presentation.xml" Id="Re40d33613c184e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82f09cbb0647f5"/>
  </p:sldMasterIdLst>
  <p:notesMasterIdLst>
    <p:notesMasterId xmlns:r="http://schemas.openxmlformats.org/officeDocument/2006/relationships" r:id="R9407a4137a9f4760"/>
  </p:notesMasterIdLst>
  <p:sldIdLst>
    <p:sldId xmlns:r="http://schemas.openxmlformats.org/officeDocument/2006/relationships" id="256" r:id="R4199b97524984d02"/>
    <p:sldId xmlns:r="http://schemas.openxmlformats.org/officeDocument/2006/relationships" id="257" r:id="Rdab7bcced91f49c9"/>
    <p:sldId xmlns:r="http://schemas.openxmlformats.org/officeDocument/2006/relationships" id="258" r:id="Rf9e94ce1258a4bc9"/>
    <p:sldId xmlns:r="http://schemas.openxmlformats.org/officeDocument/2006/relationships" id="259" r:id="R4eb8cb02915d4567"/>
    <p:sldId xmlns:r="http://schemas.openxmlformats.org/officeDocument/2006/relationships" id="260" r:id="R565de0d6aeab487d"/>
    <p:sldId xmlns:r="http://schemas.openxmlformats.org/officeDocument/2006/relationships" id="261" r:id="Rcceceafd97694387"/>
    <p:sldId xmlns:r="http://schemas.openxmlformats.org/officeDocument/2006/relationships" id="262" r:id="R92b87efe331c4353"/>
    <p:sldId xmlns:r="http://schemas.openxmlformats.org/officeDocument/2006/relationships" id="263" r:id="R4dbac624234647a3"/>
    <p:sldId xmlns:r="http://schemas.openxmlformats.org/officeDocument/2006/relationships" id="264" r:id="R20a6935e6c1d4495"/>
    <p:sldId xmlns:r="http://schemas.openxmlformats.org/officeDocument/2006/relationships" id="265" r:id="R55abe38f5d39431e"/>
    <p:sldId xmlns:r="http://schemas.openxmlformats.org/officeDocument/2006/relationships" id="266" r:id="R637cf787d02d41c2"/>
    <p:sldId xmlns:r="http://schemas.openxmlformats.org/officeDocument/2006/relationships" id="267" r:id="R41d52cc997304248"/>
    <p:sldId xmlns:r="http://schemas.openxmlformats.org/officeDocument/2006/relationships" id="268" r:id="Ra0609dc054b54f74"/>
    <p:sldId xmlns:r="http://schemas.openxmlformats.org/officeDocument/2006/relationships" id="269" r:id="Rccc4690804ab49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78983ff9d14db5" /><Relationship Type="http://schemas.openxmlformats.org/officeDocument/2006/relationships/slideMaster" Target="/ppt/slideMasters/slideMaster1.xml" Id="Rd682f09cbb0647f5" /><Relationship Type="http://schemas.openxmlformats.org/officeDocument/2006/relationships/notesMaster" Target="/ppt/notesMasters/notesMaster1.xml" Id="R9407a4137a9f4760" /><Relationship Type="http://schemas.openxmlformats.org/officeDocument/2006/relationships/presProps" Target="/ppt/presProps.xml" Id="R6f8425675c8142b0" /><Relationship Type="http://schemas.openxmlformats.org/officeDocument/2006/relationships/tableStyles" Target="/ppt/tableStyles.xml" Id="Rd617b147fa984213" /><Relationship Type="http://schemas.openxmlformats.org/officeDocument/2006/relationships/slide" Target="/ppt/slides/slide1.xml" Id="R4199b97524984d02" /><Relationship Type="http://schemas.openxmlformats.org/officeDocument/2006/relationships/slide" Target="/ppt/slides/slide2.xml" Id="Rdab7bcced91f49c9" /><Relationship Type="http://schemas.openxmlformats.org/officeDocument/2006/relationships/slide" Target="/ppt/slides/slide3.xml" Id="Rf9e94ce1258a4bc9" /><Relationship Type="http://schemas.openxmlformats.org/officeDocument/2006/relationships/slide" Target="/ppt/slides/slide4.xml" Id="R4eb8cb02915d4567" /><Relationship Type="http://schemas.openxmlformats.org/officeDocument/2006/relationships/slide" Target="/ppt/slides/slide5.xml" Id="R565de0d6aeab487d" /><Relationship Type="http://schemas.openxmlformats.org/officeDocument/2006/relationships/slide" Target="/ppt/slides/slide6.xml" Id="Rcceceafd97694387" /><Relationship Type="http://schemas.openxmlformats.org/officeDocument/2006/relationships/slide" Target="/ppt/slides/slide7.xml" Id="R92b87efe331c4353" /><Relationship Type="http://schemas.openxmlformats.org/officeDocument/2006/relationships/slide" Target="/ppt/slides/slide8.xml" Id="R4dbac624234647a3" /><Relationship Type="http://schemas.openxmlformats.org/officeDocument/2006/relationships/slide" Target="/ppt/slides/slide9.xml" Id="R20a6935e6c1d4495" /><Relationship Type="http://schemas.openxmlformats.org/officeDocument/2006/relationships/slide" Target="/ppt/slides/slide10.xml" Id="R55abe38f5d39431e" /><Relationship Type="http://schemas.openxmlformats.org/officeDocument/2006/relationships/slide" Target="/ppt/slides/slide11.xml" Id="R637cf787d02d41c2" /><Relationship Type="http://schemas.openxmlformats.org/officeDocument/2006/relationships/slide" Target="/ppt/slides/slide12.xml" Id="R41d52cc997304248" /><Relationship Type="http://schemas.openxmlformats.org/officeDocument/2006/relationships/slide" Target="/ppt/slides/slide13.xml" Id="Ra0609dc054b54f74" /><Relationship Type="http://schemas.openxmlformats.org/officeDocument/2006/relationships/slide" Target="/ppt/slides/slide14.xml" Id="Rccc4690804ab49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e19b4fd1264a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9224ec53864fa3" /><Relationship Type="http://schemas.openxmlformats.org/officeDocument/2006/relationships/notesMaster" Target="/ppt/notesMasters/notesMaster1.xml" Id="Rcd867f2b9ddb4d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1d9cf94f984ffe" /><Relationship Type="http://schemas.openxmlformats.org/officeDocument/2006/relationships/notesMaster" Target="/ppt/notesMasters/notesMaster1.xml" Id="R730f679fb7f249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0ace4faf3e430b" /><Relationship Type="http://schemas.openxmlformats.org/officeDocument/2006/relationships/notesMaster" Target="/ppt/notesMasters/notesMaster1.xml" Id="Rbc4e73de822b4d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4769d7a067433d" /><Relationship Type="http://schemas.openxmlformats.org/officeDocument/2006/relationships/notesMaster" Target="/ppt/notesMasters/notesMaster1.xml" Id="R3211a2f0c8984d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d4dff0658f4853" /><Relationship Type="http://schemas.openxmlformats.org/officeDocument/2006/relationships/notesMaster" Target="/ppt/notesMasters/notesMaster1.xml" Id="R250a0a01a7844f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9559f1c2f2444f" /><Relationship Type="http://schemas.openxmlformats.org/officeDocument/2006/relationships/notesMaster" Target="/ppt/notesMasters/notesMaster1.xml" Id="Rb50ec09eeaf840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4e137dd11d4528" /><Relationship Type="http://schemas.openxmlformats.org/officeDocument/2006/relationships/notesMaster" Target="/ppt/notesMasters/notesMaster1.xml" Id="R6cc2c0b316f84b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71e9f4719c46aa" /><Relationship Type="http://schemas.openxmlformats.org/officeDocument/2006/relationships/notesMaster" Target="/ppt/notesMasters/notesMaster1.xml" Id="R193428ea9eae4a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3298c709ad41ce" /><Relationship Type="http://schemas.openxmlformats.org/officeDocument/2006/relationships/notesMaster" Target="/ppt/notesMasters/notesMaster1.xml" Id="R86d13a81964345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932ae8a1394365" /><Relationship Type="http://schemas.openxmlformats.org/officeDocument/2006/relationships/notesMaster" Target="/ppt/notesMasters/notesMaster1.xml" Id="Rf9db63a574c64e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67afce544d4857" /><Relationship Type="http://schemas.openxmlformats.org/officeDocument/2006/relationships/notesMaster" Target="/ppt/notesMasters/notesMaster1.xml" Id="Rddfce181e34643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82ef96c84c43c5" /><Relationship Type="http://schemas.openxmlformats.org/officeDocument/2006/relationships/notesMaster" Target="/ppt/notesMasters/notesMaster1.xml" Id="R20ed7dbe64d644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d8d5e876c74101" /><Relationship Type="http://schemas.openxmlformats.org/officeDocument/2006/relationships/notesMaster" Target="/ppt/notesMasters/notesMaster1.xml" Id="R7c7fa63d1c7e42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10990d5df34305" /><Relationship Type="http://schemas.openxmlformats.org/officeDocument/2006/relationships/notesMaster" Target="/ppt/notesMasters/notesMaster1.xml" Id="R2a8a1a51caf941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Fancy 商业评估与合作提案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问题：从想去，到实际成行</a:t>
            </a:r>
          </a:p>
          <a:p xmlns:a="http://schemas.openxmlformats.org/drawingml/2006/main">
            <a:r>
              <a:t>S4: [Visit London](https://www.visitlondon.com/) | 城市体验发现入口；不计活动需求或供给总量 |</a:t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用户：按阻力细分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市场：人口背景不等于需求</a:t>
            </a:r>
          </a:p>
          <a:p xmlns:a="http://schemas.openxmlformats.org/drawingml/2006/main">
            <a:r>
              <a:t>S1: [GLA State of London，2026-07](https://data.london.gov.uk/blog/state-of-london) | 910 万居民人口背景；非目标客户数 |</a:t>
            </a:r>
          </a:p>
          <a:p xmlns:a="http://schemas.openxmlformats.org/drawingml/2006/main">
            <a:r>
              <a:t>S3: [ONS January 2025](https://www.ons.gov.uk/peoplepopulationandcommunity/wellbeing/bulletins/publicopinionsandsocialtrendsgreatbritain/january2025) | 2025-01-08 至 02-02 英国成人孤独调查；不可套作伦敦需求率 |</a:t>
            </a:r>
          </a:p>
          <a:p xmlns:a="http://schemas.openxmlformats.org/drawingml/2006/main">
            <a:r>
              <a:t>S8: [ONS Family Spending FYE2025](https://www.ons.gov.uk/peoplepopulationandcommunity/personalandhouseholdfinances/expenditure/bulletins/familyspendingintheuk/april2024tomarch2025) | 英国家庭支出与收入差异；非个人预算 |</a:t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竞争：必须证明增量价值</a:t>
            </a:r>
          </a:p>
          <a:p xmlns:a="http://schemas.openxmlformats.org/drawingml/2006/main">
            <a:r>
              <a:t>S5: [Meetable FAQ](https://meetable.social/faq) | £12 伦敦体验费；再预订率为自报且口径不足 |</a:t>
            </a:r>
          </a:p>
          <a:p xmlns:a="http://schemas.openxmlformats.org/drawingml/2006/main">
            <a:r>
              <a:t>S6: [Meetable restaurants](https://meetable.social/restaurants) | 无佣金与平台费的商家替代 |</a:t>
            </a:r>
          </a:p>
          <a:p xmlns:a="http://schemas.openxmlformats.org/drawingml/2006/main">
            <a:r>
              <a:t>S7: [222 partners](https://partners.222.place/) | 餐厅 $3/人、场所 $5/人、10% 票佣；美元报价非英国已成交价 |</a:t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方案：让用户保留决定权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AI：先验证具体帮助</a:t>
            </a:r>
          </a:p>
          <a:p xmlns:a="http://schemas.openxmlformats.org/drawingml/2006/main">
            <a:r>
              <a:t>S11: [Frontiers 2024 文化适应压力综述](https://www.frontiersin.org/journals/psychology/articles/10.3389/fpsyg.2024.1403807/full) | 关联证据；不是 AI 干预或付费效果 |</a:t>
            </a:r>
          </a:p>
          <a:p xmlns:a="http://schemas.openxmlformats.org/drawingml/2006/main">
            <a:r>
              <a:t>S12: [OpenAI/MIT affective use](https://openai.com/index/affective-use-study/) | 情感使用结果有差异；不可外推到本项目 |</a:t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商业：付款对应明确交付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经济：三个稳定年情景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经济：经营贡献而非净利润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责任：不能承诺保证安全</a:t>
            </a:r>
          </a:p>
          <a:p xmlns:a="http://schemas.openxmlformats.org/drawingml/2006/main">
            <a:r>
              <a:t>S15: [Ofcom 服务指南](https://www.ofcom.org.uk/online-safety/illegal-and-harmful-content/guide-for-services) | 适用性、风险及儿童访问评估 |</a:t>
            </a:r>
          </a:p>
          <a:p xmlns:a="http://schemas.openxmlformats.org/drawingml/2006/main">
            <a:r>
              <a:t>S16: [HSE Managing an event](https://www.hse.gov.uk/event-safety/managing-an-event.htm) | 组织者风险控制职责 |</a:t>
            </a:r>
          </a:p>
          <a:p xmlns:a="http://schemas.openxmlformats.org/drawingml/2006/main">
            <a:r>
              <a:t>S17: [Consumer Rights Act s65](https://www.legislation.gov.uk/ukpga/2015/15/section/65/2023-01-08) | 自身过失导致人身伤害责任限制；不是个案法律意见 |</a:t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建议：商业验证与科研独立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商家合作附页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结论与资源需求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测算输入和公式见 economic-model.xlsx 与 business-assessment.zh-CN.md。商业数字均为作者假设，非业绩。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eba7e93ec4e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e2067496d47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babf9ee3243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36e0dfd18942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87059d7b04c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b4c4485a043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C498AB-3FC4-4609-8114-2F13D77810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E4BC0A-5CA0-4DDB-8063-5263E5FD20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6BEEA5-9492-44B7-8B06-3F84DACD2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F42128-8FA8-4963-B224-6A29B63AB5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5384F9-DCB4-417C-A259-D30DF055FE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876B8A-C38F-4F00-AC6D-3EDB15551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192199-3DDC-40C7-9C92-478D5E44BE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153900-B3E7-4982-AE36-3DE292B8C0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E4A25E-C4AF-478C-8A14-DEDF3E183C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05DF93-7A2F-48DA-B198-30079E25C5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05915194a64533" /><Relationship Type="http://schemas.openxmlformats.org/officeDocument/2006/relationships/slideLayout" Target="/ppt/slideLayouts/slideLayout1.xml" Id="R9f3fd31e853b4852" /><Relationship Type="http://schemas.openxmlformats.org/officeDocument/2006/relationships/slideLayout" Target="/ppt/slideLayouts/slideLayout2.xml" Id="R7a649c0b19254504" /><Relationship Type="http://schemas.openxmlformats.org/officeDocument/2006/relationships/slideLayout" Target="/ppt/slideLayouts/slideLayout3.xml" Id="R70ff9608e5c04c42" /><Relationship Type="http://schemas.openxmlformats.org/officeDocument/2006/relationships/slideLayout" Target="/ppt/slideLayouts/slideLayout4.xml" Id="Raa9d3b00076046b9" /><Relationship Type="http://schemas.openxmlformats.org/officeDocument/2006/relationships/slideLayout" Target="/ppt/slideLayouts/slideLayout5.xml" Id="Red424e51129446e8" /><Relationship Type="http://schemas.openxmlformats.org/officeDocument/2006/relationships/slideLayout" Target="/ppt/slideLayouts/slideLayout6.xml" Id="Rdaa196edfeaf43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3fd31e853b4852"/>
    <p:sldLayoutId xmlns:r="http://schemas.openxmlformats.org/officeDocument/2006/relationships" id="2147483650" r:id="R7a649c0b19254504"/>
    <p:sldLayoutId xmlns:r="http://schemas.openxmlformats.org/officeDocument/2006/relationships" id="2147483651" r:id="R70ff9608e5c04c42"/>
    <p:sldLayoutId xmlns:r="http://schemas.openxmlformats.org/officeDocument/2006/relationships" id="2147483652" r:id="Raa9d3b00076046b9"/>
    <p:sldLayoutId xmlns:r="http://schemas.openxmlformats.org/officeDocument/2006/relationships" id="2147483653" r:id="Red424e51129446e8"/>
    <p:sldLayoutId xmlns:r="http://schemas.openxmlformats.org/officeDocument/2006/relationships" id="2147483654" r:id="Rdaa196edfeaf43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c289d930964000" /><Relationship Type="http://schemas.openxmlformats.org/officeDocument/2006/relationships/notesSlide" Target="/ppt/notesSlides/notesSlide1.xml" Id="Rc4cacef7857641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31a40298d485f" /><Relationship Type="http://schemas.openxmlformats.org/officeDocument/2006/relationships/notesSlide" Target="/ppt/notesSlides/notesSlide2.xml" Id="R8144dc2ba35949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1b54c001c946ce" /><Relationship Type="http://schemas.openxmlformats.org/officeDocument/2006/relationships/notesSlide" Target="/ppt/notesSlides/notesSlide3.xml" Id="R1c0b0efeb8624c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dbccbc93cb42d9" /><Relationship Type="http://schemas.openxmlformats.org/officeDocument/2006/relationships/notesSlide" Target="/ppt/notesSlides/notesSlide4.xml" Id="Ra96f6142ddcb47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145a945ad04109" /><Relationship Type="http://schemas.openxmlformats.org/officeDocument/2006/relationships/notesSlide" Target="/ppt/notesSlides/notesSlide5.xml" Id="Rbfc3e1dc676f4f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a0bc60254461f" /><Relationship Type="http://schemas.openxmlformats.org/officeDocument/2006/relationships/notesSlide" Target="/ppt/notesSlides/notesSlide6.xml" Id="R4eb0c526a1d144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263fe446f24282" /><Relationship Type="http://schemas.openxmlformats.org/officeDocument/2006/relationships/notesSlide" Target="/ppt/notesSlides/notesSlide7.xml" Id="R7d5ac9e1442a47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f5f5dbde34a46" /><Relationship Type="http://schemas.openxmlformats.org/officeDocument/2006/relationships/notesSlide" Target="/ppt/notesSlides/notesSlide8.xml" Id="R9c860dd3407340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a8d0bc45ad4691" /><Relationship Type="http://schemas.openxmlformats.org/officeDocument/2006/relationships/chart" Target="/ppt/slides/charts/chart1.xml" Id="Rf8d80cf60ed94083" /><Relationship Type="http://schemas.openxmlformats.org/officeDocument/2006/relationships/notesSlide" Target="/ppt/notesSlides/notesSlide9.xml" Id="Rd3c45460a7754a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971cf6084c4424" /><Relationship Type="http://schemas.openxmlformats.org/officeDocument/2006/relationships/notesSlide" Target="/ppt/notesSlides/notesSlide10.xml" Id="R4baa8f2105dc4a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30500f9dc4782" /><Relationship Type="http://schemas.openxmlformats.org/officeDocument/2006/relationships/notesSlide" Target="/ppt/notesSlides/notesSlide11.xml" Id="Rc805703308c64e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290a5c9c44528" /><Relationship Type="http://schemas.openxmlformats.org/officeDocument/2006/relationships/notesSlide" Target="/ppt/notesSlides/notesSlide12.xml" Id="R43a7abbcbd9c43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4e4566932b4820" /><Relationship Type="http://schemas.openxmlformats.org/officeDocument/2006/relationships/notesSlide" Target="/ppt/notesSlides/notesSlide13.xml" Id="R8ea7b476d0204f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e8f06139b04255" /><Relationship Type="http://schemas.openxmlformats.org/officeDocument/2006/relationships/notesSlide" Target="/ppt/notesSlides/notesSlide14.xml" Id="R87353eb7039f404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收入 £k</c:v>
          </c:tx>
          <c:spPr>
            <a:solidFill xmlns:a="http://schemas.openxmlformats.org/drawingml/2006/main">
              <a:srgbClr val="153F3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小试点</c:v>
                </c:pt>
                <c:pt idx="1">
                  <c:v>局部基准</c:v>
                </c:pt>
                <c:pt idx="2">
                  <c:v>城市扩展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2.88</c:v>
                </c:pt>
                <c:pt idx="1">
                  <c:v>34.56</c:v>
                </c:pt>
                <c:pt idx="2">
                  <c:v>1440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47043-7C12-41CA-A2F3-3AA1D795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4E3B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4E3B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4E3B0"/>
                </a:solidFill>
                <a:latin typeface="PingFang SC"/>
                <a:ea typeface="PingFang SC"/>
                <a:cs typeface="PingFang SC"/>
              </a:rPr>
              <a:t>Fancy 商业评估与合作提案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9A7C2-B9A4-4F18-87A1-4023A8E1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8F5E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8F5ED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8F5ED"/>
                </a:solidFill>
                <a:latin typeface="PingFang SC"/>
                <a:ea typeface="PingFang SC"/>
                <a:cs typeface="PingFang SC"/>
              </a:rPr>
              <a:t>让想去体验的人，找到一起的人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6E899-2F50-40E5-B613-08B420D5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572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8F5E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8F5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8F5ED"/>
                </a:solidFill>
                <a:latin typeface="PingFang SC"/>
                <a:ea typeface="PingFang SC"/>
                <a:cs typeface="PingFang SC"/>
              </a:rPr>
              <a:t>从伦敦约饭切入。</a:t>
            </a:r>
          </a:p>
          <a:p xmlns:a="http://schemas.openxmlformats.org/drawingml/2006/main">
            <a:pPr>
              <a:defRPr sz="2100" b="0">
                <a:solidFill>
                  <a:srgbClr val="F8F5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8F5ED"/>
                </a:solidFill>
                <a:latin typeface="PingFang SC"/>
                <a:ea typeface="PingFang SC"/>
                <a:cs typeface="PingFang SC"/>
              </a:rPr>
              <a:t>短期验证商家收入，长期研究个人 Agent 的持续服务价值。</a:t>
            </a:r>
          </a:p>
          <a:p xmlns:a="http://schemas.openxmlformats.org/drawingml/2006/main">
            <a:pPr>
              <a:defRPr sz="2100" b="0">
                <a:solidFill>
                  <a:srgbClr val="F8F5ED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8F5ED"/>
                </a:solidFill>
                <a:latin typeface="PingFang SC"/>
                <a:ea typeface="PingFang SC"/>
                <a:cs typeface="PingFang SC"/>
              </a:rPr>
              <a:t>2026.10 · 品牌暂定 · 尚无真实经营业绩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6A076-4962-42DF-8E0F-E02F4CA0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D4E3B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D4E3B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4E3B0"/>
                </a:solidFill>
                <a:latin typeface="PingFang SC"/>
                <a:ea typeface="PingFang SC"/>
                <a:cs typeface="PingFang SC"/>
              </a:rPr>
              <a:t>01  /  14</a:t>
            </a:r>
          </a:p>
        </p:txBody>
      </p:sp>
    </p:spTree>
    <p:extLst>
      <p:ext uri="{BB962C8B-B14F-4D97-AF65-F5344CB8AC3E}">
        <p14:creationId xmlns:p14="http://schemas.microsoft.com/office/powerpoint/2010/main" val="2049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0ED71-4791-4080-9151-717CF4B9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问题：从想去，到实际成行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83376-553C-40B3-B6F2-A66D95B2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城市体验丰富，同伴却不一定有空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4A38B-B3DC-408D-9514-FC5ACE70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572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有想吃的餐厅，也有想看的剧和展。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阻力可能是找不到人、协调麻烦、不了解同桌或交流语境。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创始人观察需要访谈与真实赴约验证。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183A9-6482-4B5E-A7E2-E15068C0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02  / 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53FE6-5E9A-4A4E-AFFA-C2D47A28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86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来源：S4，详见备注及完整报告</a:t>
            </a:r>
          </a:p>
        </p:txBody>
      </p:sp>
    </p:spTree>
    <p:extLst>
      <p:ext uri="{BB962C8B-B14F-4D97-AF65-F5344CB8AC3E}">
        <p14:creationId xmlns:p14="http://schemas.microsoft.com/office/powerpoint/2010/main" val="1519593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2A31A-6EBD-40E0-BC5C-81474489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用户：按阻力细分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9F41A-022F-42FF-A3B8-9F288112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先服务愿意见面、缺同伴的人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F2F46-EE8F-44E0-AF69-7742E08D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572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核心：缺同伴，或会交流但不爱组织。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供给：愿意发起、需要招募的人。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AI候选：有具体跨语言、文化参与需求的人。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留学生与校友是种子渠道，不是市场边界。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C4105-0E7C-4C71-B810-8E25970B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03  /  14</a:t>
            </a:r>
          </a:p>
        </p:txBody>
      </p:sp>
    </p:spTree>
    <p:extLst>
      <p:ext uri="{BB962C8B-B14F-4D97-AF65-F5344CB8AC3E}">
        <p14:creationId xmlns:p14="http://schemas.microsoft.com/office/powerpoint/2010/main" val="18476281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B50E7-4B20-4786-8F21-769E35D3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市场：人口背景不等于需求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80BBD-63B1-4C3D-8AD9-1C98E5D2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伦敦有试点空间，客户总量仍待测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15E32-1E56-46C6-8B5E-0AB1660A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572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910 万居民，是人口背景。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英国成人 25% 经常或有时孤独，不是伦敦约饭需求率。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家庭消费和外食数据不能换算个人 AI 支付能力。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D91A9-7E98-457C-BA03-376DF1D6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04  / 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49A72-2A0E-4080-A78D-980DD147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86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来源：S1、S3、S8，详见备注及完整报告</a:t>
            </a:r>
          </a:p>
        </p:txBody>
      </p:sp>
    </p:spTree>
    <p:extLst>
      <p:ext uri="{BB962C8B-B14F-4D97-AF65-F5344CB8AC3E}">
        <p14:creationId xmlns:p14="http://schemas.microsoft.com/office/powerpoint/2010/main" val="1616960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93570-40BD-4FBE-942C-22198144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竞争：必须证明增量价值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86D30-94C9-4488-9312-28ABB8F8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已有付费组桌，也有免费带客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D100D-EAF8-4209-8101-EFEB6613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572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Meetable：伦敦 £12/次，餐饮另付。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商家免佣金及平台费。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222：餐厅公开 $3/人，策展票佣 10%。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美元条款不是英国成交价，也不证明本项目收费成立。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BC963-FEBC-4866-BF79-2BF482DF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05  / 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6FDC2-B780-484A-805E-26594BE4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86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来源：S5、S6、S7，详见备注及完整报告</a:t>
            </a:r>
          </a:p>
        </p:txBody>
      </p:sp>
    </p:spTree>
    <p:extLst>
      <p:ext uri="{BB962C8B-B14F-4D97-AF65-F5344CB8AC3E}">
        <p14:creationId xmlns:p14="http://schemas.microsoft.com/office/powerpoint/2010/main" val="1293711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4AA02-4275-4657-89B7-2BA42673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方案：让用户保留决定权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63BF9-864A-478F-A04A-0E60C209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从自由约饭验证选择与成行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E48D7-3931-43B4-AE8A-2B79052E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8BA13-3DFB-40C1-93C7-E92A1658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餐厅 · 时间 · 预算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FD547-88F2-4093-8809-00AEA93D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B45F3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45F3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B45F3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43DCD-D2D9-4AC1-9354-B9E72009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AD127-7664-47FE-AF09-BCD9C1D6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同桌 · 氛围 · 期待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11177-1746-4A23-BA6A-EB6F4F83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385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B45F3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45F3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B45F3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BAA4F-506B-48D1-B666-C68DF8EA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29343-29CE-4AD7-B587-AE88ACD6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申请 · 审核 · 安排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D4F05-1C5F-4670-9C3F-066B3F86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B45F38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45F3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B45F3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6172A-2FA5-4005-8B5B-ECFB67CA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见面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7810F-85DF-4214-9511-0084A0A0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100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公开场所 · 小组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F23FD-07CA-4777-8C12-D0350C08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AI 按需支持表达与语境理解。当前 Demo 预约支付均为模拟。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A8722-6600-4AF9-B7B4-8EC29DE6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06  /  14</a:t>
            </a:r>
          </a:p>
        </p:txBody>
      </p:sp>
    </p:spTree>
    <p:extLst>
      <p:ext uri="{BB962C8B-B14F-4D97-AF65-F5344CB8AC3E}">
        <p14:creationId xmlns:p14="http://schemas.microsoft.com/office/powerpoint/2010/main" val="535703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84072-81DA-44C2-801D-84D51C05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AI：先验证具体帮助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A7A1A-A87D-47F8-89D7-CC4F1E3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Agent 从反复出现的任务中生长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4AD23-D13A-4F43-A7F7-9E05CEF1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572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优先：真实饭局前练习、文化解释、饭后复盘。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对照：现有免费工具与通用 AI。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长期：可靠服务与可控记忆能否建立适度信任？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聊天时长不代表付费价值或幸福感。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65F8E-B4D3-432C-AB5C-3503AC8B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07  / 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A61B4-B248-4688-8A26-1691519F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86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来源：S11、S12，详见备注及完整报告</a:t>
            </a:r>
          </a:p>
        </p:txBody>
      </p:sp>
    </p:spTree>
    <p:extLst>
      <p:ext uri="{BB962C8B-B14F-4D97-AF65-F5344CB8AC3E}">
        <p14:creationId xmlns:p14="http://schemas.microsoft.com/office/powerpoint/2010/main" val="1834446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E5C20-100F-4DC6-9790-1D68F1AE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商业：付款对应明确交付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FC6BB-075A-468A-B0A5-4FD3B0B7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商家收入优先，个人付费单独验证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ADAF8-8E9E-4852-A222-FA1FF102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572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商家：按场服务，或核实到店收费，二选一。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个人：基础约饭免费，具体训练或代办先按次测试。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会员：有重复需求后再测试额度包。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不售卖“高质量人”，不把安全设为会员权益。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C68D5-F31F-475A-B8BB-458548C9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08  /  14</a:t>
            </a:r>
          </a:p>
        </p:txBody>
      </p:sp>
    </p:spTree>
    <p:extLst>
      <p:ext uri="{BB962C8B-B14F-4D97-AF65-F5344CB8AC3E}">
        <p14:creationId xmlns:p14="http://schemas.microsoft.com/office/powerpoint/2010/main" val="17747523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734A6-1BE5-49B1-9C92-7F98BDEC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经济：三个稳定年情景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2029F-2295-4B48-97E0-B28430A5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低额引流费，需要很大的履约规模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BDA60-2AE2-493A-86C6-610FEF9A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00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年收入，单位：千英镑</a:t>
            </a:r>
          </a:p>
          <a:p xmlns:a="http://schemas.openxmlformats.org/drawingml/2006/main">
            <a:pPr>
              <a:defRPr sz="1875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不同经营规模，非增长预测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全部输入为作者假设</a:t>
            </a:r>
          </a:p>
          <a:p xmlns:a="http://schemas.openxmlformats.org/drawingml/2006/main">
            <a:pPr>
              <a:defRPr sz="1875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详见经济模型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C070F3F-9983-41A5-AA55-F838D7BCBC64}"/>
              </a:ext>
            </a:extLst>
          </p:cNvPr>
          <p:cNvGraphicFramePr/>
          <p:nvPr/>
        </p:nvGraphicFramePr>
        <p:xfrm>
          <a:off xmlns:a="http://schemas.openxmlformats.org/drawingml/2006/main" x="5238750" y="2714625"/>
          <a:ext xmlns:a="http://schemas.openxmlformats.org/drawingml/2006/main" cx="6096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d80cf60ed9408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A1D05-5E0D-48A5-9829-4F01DDDC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09  /  14</a:t>
            </a:r>
          </a:p>
        </p:txBody>
      </p:sp>
    </p:spTree>
    <p:extLst>
      <p:ext uri="{BB962C8B-B14F-4D97-AF65-F5344CB8AC3E}">
        <p14:creationId xmlns:p14="http://schemas.microsoft.com/office/powerpoint/2010/main" val="17471282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8F6C8-F32C-42A4-8AD1-148C586D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经济：经营贡献而非净利润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E797E-AD56-463C-8128-B4D1AE44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计入人工和获客后，基准仍亏损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03FC9-6474-4779-9188-5C9689A8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572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局部基准：每场贡献 £15.80。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每年 720 场，获客后贡献约 −£27,624。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按当前成本约需 2,469 场覆盖固定与获客。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扩展情景贡献 £378,000，但要求 288,000 可收费人次。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3F9DC-D731-4756-A70F-E9EF8114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10  /  14</a:t>
            </a:r>
          </a:p>
        </p:txBody>
      </p:sp>
    </p:spTree>
    <p:extLst>
      <p:ext uri="{BB962C8B-B14F-4D97-AF65-F5344CB8AC3E}">
        <p14:creationId xmlns:p14="http://schemas.microsoft.com/office/powerpoint/2010/main" val="5495012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228E4-D56F-44EB-A23E-120F480B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责任：不能承诺保证安全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1C73E-BA73-4946-B3AA-A5FB89EE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安全是基础能力，也是成本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C30AE-A924-41AF-BFC7-5E2292FF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572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成年人、小组、营业公共场所。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最小化资料、核验边界、举报和人工处置。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按实际角色评估在线及活动组织义务。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法律、保险和响应资源需在上线前落实。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7DE20-761C-4577-B12E-95102958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11  / 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21C8C-4DB4-4F6C-ADCA-CB1F791C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86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来源：S15、S16、S17，详见备注及完整报告</a:t>
            </a:r>
          </a:p>
        </p:txBody>
      </p:sp>
    </p:spTree>
    <p:extLst>
      <p:ext uri="{BB962C8B-B14F-4D97-AF65-F5344CB8AC3E}">
        <p14:creationId xmlns:p14="http://schemas.microsoft.com/office/powerpoint/2010/main" val="886609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A6EF3-F491-4A8B-A746-1B6C9723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建议：商业验证与科研独立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F12F5-C19F-41A7-BA53-FA40FD81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先做有限试点，再决定加大投入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04B72-CAFB-4926-887F-F4921DCC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572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8–12 周，现金上限建议 £5,000，工时另计。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验证赴约、组织、商家实际付款与第二次购买。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最后 4 场至少 3 场人工后贡献为正，是建议门槛。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科研需导师、伦理审批和对照；不能把试点直接当论文样本。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28428-C71E-416B-91B7-8365E05E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12  /  14</a:t>
            </a:r>
          </a:p>
        </p:txBody>
      </p:sp>
    </p:spTree>
    <p:extLst>
      <p:ext uri="{BB962C8B-B14F-4D97-AF65-F5344CB8AC3E}">
        <p14:creationId xmlns:p14="http://schemas.microsoft.com/office/powerpoint/2010/main" val="17930306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F685E-6D9C-4B33-8F93-FD019CE5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商家合作附页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6A4C9-40F9-4226-9E7A-784A3582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合作一场，核实价值，再谈长期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7D4EA-8614-462D-A57C-09BDFA7C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572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共同选择时段、菜单和人数边界。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平台负责约定招募协调；商家负责场地与餐饮。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提前约定归因、取消、报价和支持范围。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按付款、核实到店、商家复购评估，不承诺填满。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AA29D-F8A4-4DF1-A471-498B56E2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13  /  14</a:t>
            </a:r>
          </a:p>
        </p:txBody>
      </p:sp>
    </p:spTree>
    <p:extLst>
      <p:ext uri="{BB962C8B-B14F-4D97-AF65-F5344CB8AC3E}">
        <p14:creationId xmlns:p14="http://schemas.microsoft.com/office/powerpoint/2010/main" val="19536241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4F94F-86F9-4DA1-A067-4CD4E72C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结论与资源需求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34FC0-5CDE-4BD0-96D5-A050E30F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投入跟随证据，而不是跟随热度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2D0C1-466A-45C5-9698-20EADC32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572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当前：可交互 Demo、需求规格与公开研究。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下一步：场所伙伴、运营支持及研究合作。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成立再扩张；经济性弱则调整或停，研究价值可独立延续。</a:t>
            </a:r>
          </a:p>
          <a:p xmlns:a="http://schemas.openxmlformats.org/drawingml/2006/main">
            <a:pPr>
              <a:def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3F35"/>
                </a:solidFill>
                <a:latin typeface="PingFang SC"/>
                <a:ea typeface="PingFang SC"/>
                <a:cs typeface="PingFang SC"/>
              </a:rPr>
              <a:t>团队、融资与收入只使用后续核实的真实材料。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52136-3799-495A-AA01-0DEF57C0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7756D"/>
                </a:solidFill>
                <a:latin typeface="PingFang SC"/>
                <a:ea typeface="PingFang SC"/>
                <a:cs typeface="PingFang SC"/>
              </a:rPr>
              <a:t>14  /  14</a:t>
            </a:r>
          </a:p>
        </p:txBody>
      </p:sp>
    </p:spTree>
    <p:extLst>
      <p:ext uri="{BB962C8B-B14F-4D97-AF65-F5344CB8AC3E}">
        <p14:creationId xmlns:p14="http://schemas.microsoft.com/office/powerpoint/2010/main" val="178293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2026-10-17T20:01:18.5830000Z</dcterms:created>
  <dcterms:modified xsi:type="dcterms:W3CDTF">2026-10-17T20:01:18.5830000Z</dcterms:modified>
</coreProperties>
</file>